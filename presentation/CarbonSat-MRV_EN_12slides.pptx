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outer"/>
          <c:xMode val="edge"/>
          <c:yMode val="edge"/>
          <c:x val="0.09"/>
          <c:y val="0.02"/>
          <c:w val="0.89"/>
          <c:h val="0.9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tC/yr</c:v>
                </c:pt>
              </c:strCache>
            </c:strRef>
          </c:tx>
          <c:spPr>
            <a:ln w="24130">
              <a:solidFill>
                <a:srgbClr val="0F5C55"/>
              </a:solidFill>
            </a:ln>
          </c:spPr>
          <c:marker>
            <c:symbol val="circle"/>
            <c:size val="5"/>
            <c:spPr>
              <a:solidFill>
                <a:srgbClr val="FCFBF8"/>
              </a:solidFill>
              <a:ln w="12700">
                <a:solidFill>
                  <a:srgbClr val="0F5C55"/>
                </a:solidFill>
              </a:ln>
            </c:spPr>
          </c:marker>
          <c:dPt>
            <c:idx val="12"/>
            <c:marker>
              <c:symbol val="circle"/>
              <c:size val="9"/>
              <c:spPr>
                <a:solidFill>
                  <a:srgbClr val="0F5C55"/>
                </a:solidFill>
                <a:ln>
                  <a:solidFill>
                    <a:srgbClr val="FCFBF8"/>
                  </a:solidFill>
                </a:ln>
              </c:spPr>
            </c:marker>
          </c:dPt>
          <c:cat>
            <c:strRef>
              <c:f>Sheet1!$A$2:$A$14</c:f>
              <c:strCache>
                <c:ptCount val="13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4797.24</c:v>
                </c:pt>
                <c:pt idx="1">
                  <c:v>4189.97</c:v>
                </c:pt>
                <c:pt idx="2">
                  <c:v>4424.65</c:v>
                </c:pt>
                <c:pt idx="3">
                  <c:v>4667.98</c:v>
                </c:pt>
                <c:pt idx="4">
                  <c:v>4881.21</c:v>
                </c:pt>
                <c:pt idx="5">
                  <c:v>3971.8</c:v>
                </c:pt>
                <c:pt idx="6">
                  <c:v>5441.39</c:v>
                </c:pt>
                <c:pt idx="7">
                  <c:v>5181.14</c:v>
                </c:pt>
                <c:pt idx="8">
                  <c:v>4292.57</c:v>
                </c:pt>
                <c:pt idx="9">
                  <c:v>3862.16</c:v>
                </c:pt>
                <c:pt idx="10">
                  <c:v>4398.11</c:v>
                </c:pt>
                <c:pt idx="11">
                  <c:v>3934.02</c:v>
                </c:pt>
                <c:pt idx="12">
                  <c:v>4863.54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E2DF"/>
            </a:solidFill>
          </a:ln>
        </c:spPr>
        <c:txPr>
          <a:bodyPr/>
          <a:lstStyle/>
          <a:p>
            <a:pPr>
              <a:defRPr sz="860">
                <a:solidFill>
                  <a:srgbClr val="8C9CA1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00.0"/>
          <c:min val="0.0"/>
        </c:scaling>
        <c:delete val="0"/>
        <c:axPos val="l"/>
        <c:majorGridlines>
          <c:spPr>
            <a:ln w="7620">
              <a:solidFill>
                <a:srgbClr val="DCE2DF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60">
                <a:solidFill>
                  <a:srgbClr val="8C9CA1"/>
                </a:solidFill>
              </a:defRPr>
            </a:pPr>
          </a:p>
        </c:txPr>
        <c:crossAx val="2118791784"/>
        <c:crosses val="autoZero"/>
        <c:majorUnit val="2000.0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8C9CA1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 · Opening</a:t>
            </a:r>
          </a:p>
          <a:p>
            <a:r>
              <a:t>Planned video time: 0:00-0:18 (target total 4:40; leave 20 s inside the 5:00 limit).</a:t>
            </a:r>
          </a:p>
          <a:p/>
          <a:p>
            <a:r>
              <a:t>PURPOSE</a:t>
            </a:r>
          </a:p>
          <a:p>
            <a:r>
              <a:t>Establish, in one screen: Track 4 (Climate Data &amp; Environmental Monitoring), the review use case for</a:t>
            </a:r>
          </a:p>
          <a:p>
            <a:r>
              <a:t>environmental data, and the target users (environmental researchers and reviewers). The screenshot is</a:t>
            </a:r>
          </a:p>
          <a:p>
            <a:r>
              <a:t>the product, not decoration.</a:t>
            </a:r>
          </a:p>
          <a:p/>
          <a:p>
            <a:r>
              <a:t>FACTS ON THIS PAGE</a:t>
            </a:r>
          </a:p>
          <a:p>
            <a:r>
              <a:t>Working research prototype. Two separately trained unsupervised models support review preparation.</a:t>
            </a:r>
          </a:p>
          <a:p>
            <a:r>
              <a:t>One historical descriptive record is registered on Sepolia and is described as a public reference only.</a:t>
            </a:r>
          </a:p>
          <a:p/>
          <a:p>
            <a:r>
              <a:t>SOURCE</a:t>
            </a:r>
          </a:p>
          <a:p>
            <a:r>
              <a:t>Team credit and project name reproduce the supplied deck. The screenshot is the actual English</a:t>
            </a:r>
          </a:p>
          <a:p>
            <a:r>
              <a:t>workbench, captured as software state; it is not a user trial.</a:t>
            </a:r>
          </a:p>
          <a:p/>
          <a:p>
            <a:r>
              <a:t>Formal EN/CN narration to be written after V6 is approved.</a:t>
            </a:r>
          </a:p>
          <a:p/>
          <a:p>
            <a:r>
              <a:t>Do not read the team names or the footer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 · The reviewer's question</a:t>
            </a:r>
          </a:p>
          <a:p>
            <a:r>
              <a:t>Planned video time: 0:18-0:40.</a:t>
            </a:r>
          </a:p>
          <a:p/>
          <a:p>
            <a:r>
              <a:t>PURPOSE</a:t>
            </a:r>
          </a:p>
          <a:p>
            <a:r>
              <a:t>Turn the value 4,863.54 tC/yr into a question: what evidence supports it? Three review questions</a:t>
            </a:r>
          </a:p>
          <a:p>
            <a:r>
              <a:t>(area basis, comparability, evidence status) are answered later in the demonstration and closed on</a:t>
            </a:r>
          </a:p>
          <a:p>
            <a:r>
              <a:t>page 6.</a:t>
            </a:r>
          </a:p>
          <a:p/>
          <a:p>
            <a:r>
              <a:t>FACTS ON THIS PAGE</a:t>
            </a:r>
          </a:p>
          <a:p>
            <a:r>
              <a:t>cell_0020, 2024: annual modelled NPP production on the valid product footprint, 4,863.54 tC/yr.</a:t>
            </a:r>
          </a:p>
          <a:p>
            <a:r>
              <a:t>Valid area 34.14 km2, valid-area ratio 100% (page 7). Modelled NPP does not establish net carbon</a:t>
            </a:r>
          </a:p>
          <a:p>
            <a:r>
              <a:t>removal or credit quantities.</a:t>
            </a:r>
          </a:p>
          <a:p/>
          <a:p>
            <a:r>
              <a:t>Formal EN/CN narration to be written after V6 is approved.</a:t>
            </a:r>
          </a:p>
          <a:p/>
          <a:p>
            <a:r>
              <a:t>Do not present the value as a carbon sink, a removal or a credit quantity.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3 · Two unsupervised models</a:t>
            </a:r>
          </a:p>
          <a:p>
            <a:r>
              <a:t>Planned video time: 0:40-1:10.</a:t>
            </a:r>
          </a:p>
          <a:p/>
          <a:p>
            <a:r>
              <a:t>PURPOSE</a:t>
            </a:r>
          </a:p>
          <a:p>
            <a:r>
              <a:t>Show the technical contribution: two model families, separately trained, on two different input sets,</a:t>
            </a:r>
          </a:p>
          <a:p>
            <a:r>
              <a:t>each producing advisory scores that only order human review.</a:t>
            </a:r>
          </a:p>
          <a:p/>
          <a:p>
            <a:r>
              <a:t>EXACT IDENTITIES (for questions)</a:t>
            </a:r>
          </a:p>
          <a:p>
            <a:r>
              <a:t>FVC model, CarbonSat-AnomalyIF-v1.1: input 3,420 rows / 90 cells, 1987-2024, 7 features</a:t>
            </a:r>
          </a:p>
          <a:p>
            <a:r>
              <a:t>(fvc, ndvi, clearPixelRatio, spatialCoverage, sensorAgreement, fvcJump, yearNorm).</a:t>
            </a:r>
          </a:p>
          <a:p>
            <a:r>
              <a:t>Training 2,736 rows / 72 cells; spatial holdout 684 rows / 18 cells. 3,420 is the input count,</a:t>
            </a:r>
          </a:p>
          <a:p>
            <a:r>
              <a:t>not the training count. Stored grid scores reproduce 3,420 / 3,420.</a:t>
            </a:r>
          </a:p>
          <a:p>
            <a:r>
              <a:t>NPP family, CarbonSat-NPP-AnomalyIF-v1.0: input 816 rows / 34 cells, 2001-2024, 8 features</a:t>
            </a:r>
          </a:p>
          <a:p>
            <a:r>
              <a:t>(npp, nppJump, nppRelJump, nppZscore, validAreaRatio, varJump, yearNorm, eraFlag).</a:t>
            </a:r>
          </a:p>
          <a:p>
            <a:r>
              <a:t>Formal scoring model uses 816 rows. Time holdout 544 / 272 rows; cell holdout 624 / 192 rows.</a:t>
            </a:r>
          </a:p>
          <a:p/>
          <a:p>
            <a:r>
              <a:t>BOUNDARIES</a:t>
            </a:r>
          </a:p>
          <a:p>
            <a:r>
              <a:t>Both are Isolation Forest. The NPP formal model and its two holdout instances are different roles,</a:t>
            </a:r>
          </a:p>
          <a:p>
            <a:r>
              <a:t>not three algorithms. The FVC 90-cell input and the NPP 34-cell input are different sets: this is not</a:t>
            </a:r>
          </a:p>
          <a:p>
            <a:r>
              <a:t>two models voting on the same data, and the Engebei window is not a second trained model.</a:t>
            </a:r>
          </a:p>
          <a:p>
            <a:r>
              <a:t>FVC v1.1 is a separate development repair; see page 10 for its impact. Scores are advisory, are not</a:t>
            </a:r>
          </a:p>
          <a:p>
            <a:r>
              <a:t>probabilities, and the browser performs no model inference. Task exports are rule-derived.</a:t>
            </a:r>
          </a:p>
          <a:p/>
          <a:p>
            <a:r>
              <a:t>Formal EN/CN narration to be written after V6 is approved.</a:t>
            </a:r>
          </a:p>
          <a:p/>
          <a:p>
            <a:r>
              <a:t>No percentage accuracy, contamination rate or test pass rate may be used to decorate model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4 · Historical Sepolia registration</a:t>
            </a:r>
          </a:p>
          <a:p>
            <a:r>
              <a:t>Planned video time: 1:10-1:30.</a:t>
            </a:r>
          </a:p>
          <a:p/>
          <a:p>
            <a:r>
              <a:t>PURPOSE</a:t>
            </a:r>
          </a:p>
          <a:p>
            <a:r>
              <a:t>Show that a public registration experiment was actually carried out, and state its exact scope:</a:t>
            </a:r>
          </a:p>
          <a:p>
            <a:r>
              <a:t>one record, three anchored fields, everything else stored locally.</a:t>
            </a:r>
          </a:p>
          <a:p/>
          <a:p>
            <a:r>
              <a:t>FACTS ON THIS PAGE</a:t>
            </a:r>
          </a:p>
          <a:p>
            <a:r>
              <a:t>Network Sepolia (chainId 11155111). Record cell_0030_2012. Anchored: packHash of the single-record</a:t>
            </a:r>
          </a:p>
          <a:p>
            <a:r>
              <a:t>payload, methodVersion (CarbonSat-NPP-Evidence-v1.0), declarationCategory (DESCRIPTIVE_NPP_ONLY).</a:t>
            </a:r>
          </a:p>
          <a:p>
            <a:r>
              <a:t>Not anchored: whole-bundle packSha256, A2 land-cover stream, per-file source verification, Engebei</a:t>
            </a:r>
          </a:p>
          <a:p>
            <a:r>
              <a:t>case, local Merkle batch root. No IPFS. Attribution status stays insufficient_evidence.</a:t>
            </a:r>
          </a:p>
          <a:p>
            <a:r>
              <a:t>Contract and both transaction links on the slide come from chain_anchor_config_HISTORICAL.json and</a:t>
            </a:r>
          </a:p>
          <a:p>
            <a:r>
              <a:t>open the Sepolia explorer. This deck performs no chain readback and no transaction.</a:t>
            </a:r>
          </a:p>
          <a:p/>
          <a:p>
            <a:r>
              <a:t>WHY IT MATTERS</a:t>
            </a:r>
          </a:p>
          <a:p>
            <a:r>
              <a:t>Local files support computation and checking; a public registration gives a reference that exists</a:t>
            </a:r>
          </a:p>
          <a:p>
            <a:r>
              <a:t>outside our own website. This is one recorded pilot, not proof that a chain is indispensable, and not</a:t>
            </a:r>
          </a:p>
          <a:p>
            <a:r>
              <a:t>decentralised verification of all data.</a:t>
            </a:r>
          </a:p>
          <a:p/>
          <a:p>
            <a:r>
              <a:t>Formal EN/CN narration to be written after V6 is approved.</a:t>
            </a:r>
          </a:p>
          <a:p/>
          <a:p>
            <a:r>
              <a:t>Never draw an arrow from the whole bundle or from the models to the chain, and never merge the</a:t>
            </a:r>
          </a:p>
          <a:p>
            <a:r>
              <a:t>bundle sha256 with the single-record payload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5 · Demonstration route</a:t>
            </a:r>
          </a:p>
          <a:p>
            <a:r>
              <a:t>Planned video time: 1:30-1:45. Switch to the live browser at 1:45.</a:t>
            </a:r>
          </a:p>
          <a:p/>
          <a:p>
            <a:r>
              <a:t>PURPOSE</a:t>
            </a:r>
          </a:p>
          <a:p>
            <a:r>
              <a:t>Orient the audience before the live segment: one record, three actions. Keep this page short; it</a:t>
            </a:r>
          </a:p>
          <a:p>
            <a:r>
              <a:t>does not repeat page 6.</a:t>
            </a:r>
          </a:p>
          <a:p/>
          <a:p>
            <a:r>
              <a:t>ANNOTATIONS</a:t>
            </a:r>
          </a:p>
          <a:p>
            <a:r>
              <a:t>The three badges are annotation overlays placed on blank areas of the real interface: 1 on the right</a:t>
            </a:r>
          </a:p>
          <a:p>
            <a:r>
              <a:t>margin of the Value / Coverage block, 2 at the top of the Evidence block, 3 on the bottom tab row next</a:t>
            </a:r>
          </a:p>
          <a:p>
            <a:r>
              <a:t>to Continue to review. They cover no figure and no label, and the interface itself is unchanged.</a:t>
            </a:r>
          </a:p>
          <a:p/>
          <a:p>
            <a:r>
              <a:t>Formal EN/CN narration to be written after V6 is approved.</a:t>
            </a:r>
          </a:p>
          <a:p/>
          <a:p>
            <a:r>
              <a:t>Do not claim any click happens on this slide; the browser does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6 · Delivered result</a:t>
            </a:r>
          </a:p>
          <a:p>
            <a:r>
              <a:t>Planned video time: 4:20-4:40 (after the live segment, return here to close).</a:t>
            </a:r>
          </a:p>
          <a:p/>
          <a:p>
            <a:r>
              <a:t>PURPOSE</a:t>
            </a:r>
          </a:p>
          <a:p>
            <a:r>
              <a:t>Answer the opening question with what a reviewer actually receives, then state the verification path.</a:t>
            </a:r>
          </a:p>
          <a:p/>
          <a:p>
            <a:r>
              <a:t>FACTS ON THIS PAGE</a:t>
            </a:r>
          </a:p>
          <a:p>
            <a:r>
              <a:t>172 review tasks are rule-derived, exported as one complete JSON list; the count is the number of</a:t>
            </a:r>
          </a:p>
          <a:p>
            <a:r>
              <a:t>rule tasks, not the number of anomalies found by a model. A stable task-content digest is kept</a:t>
            </a:r>
          </a:p>
          <a:p>
            <a:r>
              <a:t>separate from the event timestamp. Entry-level claim limits stay attached to each entry.</a:t>
            </a:r>
          </a:p>
          <a:p>
            <a:r>
              <a:t>Ledger comparisons stay within one cell and one analysis segment; cross-cell and cross-2012</a:t>
            </a:r>
          </a:p>
          <a:p>
            <a:r>
              <a:t>comparisons are refused. Field accuracy, real-user benefits and anomaly-detection performance</a:t>
            </a:r>
          </a:p>
          <a:p>
            <a:r>
              <a:t>remain unverified.</a:t>
            </a:r>
          </a:p>
          <a:p/>
          <a:p>
            <a:r>
              <a:t>Formal EN/CN narration to be written after V6 is approved.</a:t>
            </a:r>
          </a:p>
          <a:p/>
          <a:p>
            <a:r>
              <a:t>Do not convert 172 into detected environmental anomalies, saved time or user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not part of the 4:40 route. Retained for questions about how one record is interpreted.</a:t>
            </a:r>
          </a:p>
          <a:p>
            <a:r>
              <a:t>The editable chart keeps the original cell_0020 2012-2024 values, rounded for display to 0.01 tC/yr.</a:t>
            </a:r>
          </a:p>
          <a:p>
            <a:r>
              <a:t>Valid area 34.14 km2, valid-area ratio 100% for 2024; the ratio does not prove identical pixel</a:t>
            </a:r>
          </a:p>
          <a:p>
            <a:r>
              <a:t>positions across years, and the cause of the 2012 break remains unverified.</a:t>
            </a:r>
          </a:p>
          <a:p/>
          <a:p>
            <a:r>
              <a:t>Formal EN/CN narration to be written after V6 is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not part of the 4:40 route. Retained for the extrapolation question.</a:t>
            </a:r>
          </a:p>
          <a:p>
            <a:r>
              <a:t>Engebei is a paper-reported research window (DOI 10.1109/ACCESS.2023.3255879), not a restoration</a:t>
            </a:r>
          </a:p>
          <a:p>
            <a:r>
              <a:t>project or management-unit boundary. 24 of 24 years are PARTIAL_COVERAGE with valid-area ratio</a:t>
            </a:r>
          </a:p>
          <a:p>
            <a:r>
              <a:t>about 0.9312. Production is reported on that year's valid product footprint only; it must not be</a:t>
            </a:r>
          </a:p>
          <a:p>
            <a:r>
              <a:t>extrapolated to the whole window and is not converted to CO2e.</a:t>
            </a:r>
          </a:p>
          <a:p/>
          <a:p>
            <a:r>
              <a:t>Formal EN/CN narration to be written after V6 is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not part of the 4:40 route. Retained for the hand-off question.</a:t>
            </a:r>
          </a:p>
          <a:p>
            <a:r>
              <a:t>The ledger works on same cell, same era, adjacent years, and refuses cross-cell and cross-2012</a:t>
            </a:r>
          </a:p>
          <a:p>
            <a:r>
              <a:t>comparison. The export is the complete rule-derived task list with a stable digest; partial exports</a:t>
            </a:r>
          </a:p>
          <a:p>
            <a:r>
              <a:t>are not offered. Area consistency is not pixel identity.</a:t>
            </a:r>
          </a:p>
          <a:p/>
          <a:p>
            <a:r>
              <a:t>Formal EN/CN narration to be written after V6 is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not part of the 4:40 route. Retained for the "what is actually verified" question.</a:t>
            </a:r>
          </a:p>
          <a:p/>
          <a:p>
            <a:r>
              <a:t>FOUR DIFFERENT QUESTIONS, NOT ONE ACCURACY FIGURE</a:t>
            </a:r>
          </a:p>
          <a:p>
            <a:r>
              <a:t>331 = historical full release test suite (software regression), not rerun in the FVC repair.</a:t>
            </a:r>
          </a:p>
          <a:p>
            <a:r>
              <a:t>19/19 = model read-only checks (5 artifacts, 3,420 FVC scores, 816 NPP scores, no training).</a:t>
            </a:r>
          </a:p>
          <a:p>
            <a:r>
              <a:t>3,420/3,420 = FVC grid scores reproduce in the v1.1 development fix.</a:t>
            </a:r>
          </a:p>
          <a:p>
            <a:r>
              <a:t>9/840 = upstream object-year sample reproduced under the specified settings only.</a:t>
            </a:r>
          </a:p>
          <a:p/>
          <a:p>
            <a:r>
              <a:t>FVC v1.1 IMPACT (do not clear this page)</a:t>
            </a:r>
          </a:p>
          <a:p>
            <a:r>
              <a:t>The preprocessing inconsistency was corrected in a separate CarbonSat-AnomalyIF-v1.1 build. The</a:t>
            </a:r>
          </a:p>
          <a:p>
            <a:r>
              <a:t>trained forest (200 trees), split thresholds, IsolationForest offset and the training imputer are</a:t>
            </a:r>
          </a:p>
          <a:p>
            <a:r>
              <a:t>unchanged; no fit was called. 111 saved scores changed at four-decimal precision, maximum absolute</a:t>
            </a:r>
          </a:p>
          <a:p>
            <a:r>
              <a:t>change about 0.0005. Threshold flags changed on 0 rows (168 before and after). 463 full-precision</a:t>
            </a:r>
          </a:p>
          <a:p>
            <a:r>
              <a:t>rank positions changed; top 171 membership unchanged; all 9 existing claim scores and flags</a:t>
            </a:r>
          </a:p>
          <a:p>
            <a:r>
              <a:t>unchanged. The synthetic PROCESS_TEST_ONLY evaluation was recomputed with the saved imputer:</a:t>
            </a:r>
          </a:p>
          <a:p>
            <a:r>
              <a:t>precision 0.4364, recall 0.2330, F1 0.3038 - these are not real anomaly-detection accuracy and the</a:t>
            </a:r>
          </a:p>
          <a:p>
            <a:r>
              <a:t>old v1.0 values must not be quoted for v1.1. Not merged into H1/S2 or the public demo. Model bytes</a:t>
            </a:r>
          </a:p>
          <a:p>
            <a:r>
              <a:t>for the formal forest are unchanged; version metadata and re-serialisation changed the file hashes.</a:t>
            </a:r>
          </a:p>
          <a:p/>
          <a:p>
            <a:r>
              <a:t>Formal EN/CN narration to be written after V6 is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not part of the 4:40 route. Retained for the access question.</a:t>
            </a:r>
          </a:p>
          <a:p>
            <a:r>
              <a:t>Local prototype contains two research cases, source and coverage panels, and the linked review-task</a:t>
            </a:r>
          </a:p>
          <a:p>
            <a:r>
              <a:t>export. The historical hosted demo address is listed as historical: whether it still serves the</a:t>
            </a:r>
          </a:p>
          <a:p>
            <a:r>
              <a:t>current English build needs a fresh check. No repository, video or submission link is invented here.</a:t>
            </a:r>
          </a:p>
          <a:p/>
          <a:p>
            <a:r>
              <a:t>Formal EN/CN narration to be written after V6 is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not part of the 4:40 route. Moved from V5 page 3 without changing any value.</a:t>
            </a:r>
          </a:p>
          <a:p>
            <a:r>
              <a:t>Answers "what is the data and how is annual production obtained".</a:t>
            </a:r>
          </a:p>
          <a:p>
            <a:r>
              <a:t>MOD17A3HGF v6.1 annual NPP. Case A: 34 research cells, 2001-2024, 816 cell-years. Case B: one</a:t>
            </a:r>
          </a:p>
          <a:p>
            <a:r>
              <a:t>paper-reported window, 24 window-years, partial coverage in all 24 years.</a:t>
            </a:r>
          </a:p>
          <a:p>
            <a:r>
              <a:t>Annual production = sum(valid NPP x pixelArea) / 1,000, with NPP in kg C m-2 yr-1 and pixel area in</a:t>
            </a:r>
          </a:p>
          <a:p>
            <a:r>
              <a:t>m2, giving tC/yr. Neither extent is an official project or management-unit boundary, and the two</a:t>
            </a:r>
          </a:p>
          <a:p>
            <a:r>
              <a:t>cases are not combined or ranked.</a:t>
            </a:r>
          </a:p>
          <a:p/>
          <a:p>
            <a:r>
              <a:t>Formal EN/CN narration to be written after V6 is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polia.etherscan.io/address/0x248EFE2E5579613d47e9Abe743d7528fBECE3c88" TargetMode="External"/><Relationship Id="rId3" Type="http://schemas.openxmlformats.org/officeDocument/2006/relationships/hyperlink" Target="https://sepolia.etherscan.io/tx/0x79dee25dba251dc339049ca3d91400f32d5fbb5dacb85def9e507262303e450f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457200"/>
            <a:ext cx="420624" cy="27432"/>
          </a:xfrm>
          <a:prstGeom prst="rect">
            <a:avLst/>
          </a:prstGeom>
          <a:solidFill>
            <a:srgbClr val="3F847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9888" y="402336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60" b="0" i="0" spc="165" cap="all">
                <a:solidFill>
                  <a:srgbClr val="7FB3A9"/>
                </a:solidFill>
                <a:latin typeface="Segoe UI Semibold"/>
              </a:rPr>
              <a:t>TRACK 4: CLIMATE DATA &amp; ENVIRONMENTAL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786384"/>
            <a:ext cx="10469880" cy="5486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3385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30" b="0" i="0" spc="185" cap="all">
                <a:solidFill>
                  <a:srgbClr val="6E8B90"/>
                </a:solidFill>
                <a:latin typeface="Segoe UI Semibold"/>
              </a:rPr>
              <a:t>WORKING RESEARCH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6F8F6"/>
                </a:solidFill>
                <a:latin typeface="Georgia"/>
              </a:rPr>
              <a:t>CarbonSat-MRV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57984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6000"/>
              </a:lnSpc>
            </a:pPr>
            <a:r>
              <a:rPr sz="2700" b="0" i="0">
                <a:solidFill>
                  <a:srgbClr val="DFE8E4"/>
                </a:solidFill>
                <a:latin typeface="Segoe UI Semibold"/>
              </a:rPr>
              <a:t>Satellite evidence for</a:t>
            </a:r>
          </a:p>
          <a:p>
            <a:pPr algn="l">
              <a:lnSpc>
                <a:spcPct val="116000"/>
              </a:lnSpc>
            </a:pPr>
            <a:r>
              <a:rPr sz="2700" b="0" i="0">
                <a:solidFill>
                  <a:srgbClr val="DFE8E4"/>
                </a:solidFill>
                <a:latin typeface="Segoe UI Semibold"/>
              </a:rPr>
              <a:t>environmental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4434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60" b="0" i="0">
                <a:solidFill>
                  <a:srgbClr val="9FD0C6"/>
                </a:solidFill>
                <a:latin typeface="Segoe UI Semibold"/>
              </a:rPr>
              <a:t>For environmental researchers and reviewers.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84448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1120" b="0" i="0">
                <a:solidFill>
                  <a:srgbClr val="9FB3B2"/>
                </a:solidFill>
                <a:latin typeface="Segoe UI"/>
              </a:rPr>
              <a:t>Inspect satellite results with their coverage and evidence. Two anomaly models support review preparation; a historical Sepolia pilot provides a public registration reference.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00" b="0" i="0" spc="160" cap="all">
                <a:solidFill>
                  <a:srgbClr val="6E8B90"/>
                </a:solidFill>
                <a:latin typeface="Segoe UI Semibold"/>
              </a:rPr>
              <a:t>PAPER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47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Ryan Li</a:t>
            </a:r>
            <a:r>
              <a:rPr sz="1350" b="0" i="0">
                <a:solidFill>
                  <a:srgbClr val="5E767C"/>
                </a:solidFill>
                <a:latin typeface="Segoe UI"/>
              </a:rPr>
              <a:t>   /  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Tai Ye</a:t>
            </a:r>
            <a:r>
              <a:rPr sz="1350" b="0" i="0">
                <a:solidFill>
                  <a:srgbClr val="5E767C"/>
                </a:solidFill>
                <a:latin typeface="Segoe UI"/>
              </a:rPr>
              <a:t>   /  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QY Li</a:t>
            </a:r>
          </a:p>
        </p:txBody>
      </p:sp>
      <p:pic>
        <p:nvPicPr>
          <p:cNvPr id="12" name="Picture 11" descr="slide-01-screenshot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6" y="1554480"/>
            <a:ext cx="5596128" cy="314910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97296" y="1554480"/>
            <a:ext cx="5596128" cy="3149107"/>
          </a:xfrm>
          <a:prstGeom prst="rect">
            <a:avLst/>
          </a:prstGeom>
          <a:noFill/>
          <a:ln w="9525">
            <a:solidFill>
              <a:srgbClr val="DCE2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97296" y="4795027"/>
            <a:ext cx="5596128" cy="5486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4849891"/>
            <a:ext cx="559612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30" b="0" i="0">
                <a:solidFill>
                  <a:srgbClr val="9DB0B6"/>
                </a:solidFill>
                <a:latin typeface="Segoe UI"/>
              </a:rPr>
              <a:t>Actual English workbench: value, coverage and evidence for one record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9DB0B6"/>
                </a:solidFill>
                <a:latin typeface="Segoe UI"/>
              </a:rPr>
              <a:t>IEEE ClimateChain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D6E1DF"/>
                </a:solidFill>
                <a:latin typeface="Georgia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 spc="180" cap="all">
                <a:solidFill>
                  <a:srgbClr val="0F5C55"/>
                </a:solidFill>
                <a:latin typeface="Segoe UI Semibold"/>
              </a:rPr>
              <a:t>THE REVIEWER'S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937" y="4023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30" b="0" i="0" spc="150" cap="all">
                <a:solidFill>
                  <a:srgbClr val="8C9CA1"/>
                </a:solidFill>
                <a:latin typeface="Segoe UI Semibold"/>
              </a:rPr>
              <a:t>CarbonSat-MRV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22376"/>
            <a:ext cx="10674065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91440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F242E"/>
                </a:solidFill>
                <a:latin typeface="Segoe UI Semibold"/>
              </a:rPr>
              <a:t>What evidence supports this vegetation result?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86F"/>
                </a:solidFill>
                <a:latin typeface="Segoe UI"/>
              </a:rPr>
              <a:t>A reviewer needs its valid footprint, comparison limits and evidence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04288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0F5C55"/>
                </a:solidFill>
                <a:latin typeface="Georgia"/>
              </a:rPr>
              <a:t>4,863.54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10896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50" b="0" i="0" spc="120">
                <a:solidFill>
                  <a:srgbClr val="55686F"/>
                </a:solidFill>
                <a:latin typeface="Segoe UI"/>
              </a:rPr>
              <a:t>tC/yr</a:t>
            </a:r>
            <a:r>
              <a:rPr sz="1050" b="0" i="0" spc="40">
                <a:solidFill>
                  <a:srgbClr val="55686F"/>
                </a:solidFill>
                <a:latin typeface="Segoe UI"/>
              </a:rPr>
              <a:t>     ·     cell_0020     ·    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3419856"/>
            <a:ext cx="3913632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529584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0F242E"/>
                </a:solidFill>
                <a:latin typeface="Segoe UI Semibold"/>
              </a:rPr>
              <a:t>Annual modelled NPP production on the valid product footprint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4443984"/>
            <a:ext cx="4114800" cy="896112"/>
          </a:xfrm>
          <a:prstGeom prst="rect">
            <a:avLst/>
          </a:prstGeom>
          <a:solidFill>
            <a:srgbClr val="F7ED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4443984"/>
            <a:ext cx="50292" cy="896112"/>
          </a:xfrm>
          <a:prstGeom prst="rect">
            <a:avLst/>
          </a:prstGeom>
          <a:solidFill>
            <a:srgbClr val="9560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" y="4572000"/>
            <a:ext cx="3675887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60" b="0" i="0">
                <a:solidFill>
                  <a:srgbClr val="95601F"/>
                </a:solidFill>
                <a:latin typeface="Segoe UI"/>
              </a:rPr>
              <a:t>Modelled NPP does not establish net carbon removal or credit quantities.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28600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60" b="0" i="0">
                <a:solidFill>
                  <a:srgbClr val="0F242E"/>
                </a:solidFill>
                <a:latin typeface="Segoe UI Semibold"/>
              </a:rPr>
              <a:t>Area basis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56032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100" b="0" i="0">
                <a:solidFill>
                  <a:srgbClr val="55686F"/>
                </a:solidFill>
                <a:latin typeface="Segoe UI"/>
              </a:rPr>
              <a:t>Which valid footprint does this value cover?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248" y="3255264"/>
            <a:ext cx="315468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3248" y="3419856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60" b="0" i="0">
                <a:solidFill>
                  <a:srgbClr val="0F242E"/>
                </a:solidFill>
                <a:latin typeface="Segoe UI Semibold"/>
              </a:rPr>
              <a:t>Comparability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3694176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100" b="0" i="0">
                <a:solidFill>
                  <a:srgbClr val="55686F"/>
                </a:solidFill>
                <a:latin typeface="Segoe UI"/>
              </a:rPr>
              <a:t>Which comparisons are permitted within the same cell and analysis segment?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13248" y="4389120"/>
            <a:ext cx="315468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8" y="4553712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60" b="0" i="0">
                <a:solidFill>
                  <a:srgbClr val="0F242E"/>
                </a:solidFill>
                <a:latin typeface="Segoe UI Semibold"/>
              </a:rPr>
              <a:t>Evidence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48280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100" b="0" i="0">
                <a:solidFill>
                  <a:srgbClr val="55686F"/>
                </a:solidFill>
                <a:latin typeface="Segoe UI"/>
              </a:rPr>
              <a:t>Which checks apply, and what remains unverified?</a:t>
            </a:r>
          </a:p>
        </p:txBody>
      </p:sp>
      <p:pic>
        <p:nvPicPr>
          <p:cNvPr id="22" name="Picture 21" descr="slide-02-screensh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231136"/>
            <a:ext cx="2706624" cy="345327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686800" y="2231136"/>
            <a:ext cx="2706624" cy="3453278"/>
          </a:xfrm>
          <a:prstGeom prst="rect">
            <a:avLst/>
          </a:prstGeom>
          <a:noFill/>
          <a:ln w="9525">
            <a:solidFill>
              <a:srgbClr val="DCE2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5775854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Actual English workbench, record detail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IEEE ClimateChain 2026   /   Climate Data &amp; Environmental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86F"/>
                </a:solidFill>
                <a:latin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 spc="180" cap="all">
                <a:solidFill>
                  <a:srgbClr val="0F5C55"/>
                </a:solidFill>
                <a:latin typeface="Segoe UI Semibold"/>
              </a:rPr>
              <a:t>ANOMALY PRESCREENING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937" y="4023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30" b="0" i="0" spc="150" cap="all">
                <a:solidFill>
                  <a:srgbClr val="8C9CA1"/>
                </a:solidFill>
                <a:latin typeface="Segoe UI Semibold"/>
              </a:rPr>
              <a:t>CarbonSat-MRV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22376"/>
            <a:ext cx="10674065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91440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F242E"/>
                </a:solidFill>
                <a:latin typeface="Segoe UI Semibold"/>
              </a:rPr>
              <a:t>Two unsupervised models for anomaly prescreening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86F"/>
                </a:solidFill>
                <a:latin typeface="Segoe UI"/>
              </a:rPr>
              <a:t>Separately trained Isolation Forest models produce advisory scores for review prioritisation.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920240"/>
          <a:ext cx="10607040" cy="2523744"/>
        </p:xfrm>
        <a:graphic>
          <a:graphicData uri="http://schemas.openxmlformats.org/drawingml/2006/table">
            <a:tbl>
              <a:tblPr firstRow="0" bandRow="0"/>
              <a:tblGrid>
                <a:gridCol w="1700784"/>
                <a:gridCol w="4370832"/>
                <a:gridCol w="4535424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919" b="1" i="0" spc="140" cap="all">
                          <a:solidFill>
                            <a:srgbClr val="0F5C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0F242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919" b="1" i="0" spc="140" cap="all">
                          <a:solidFill>
                            <a:srgbClr val="0F5C55"/>
                          </a:solidFill>
                          <a:latin typeface="Segoe UI"/>
                        </a:rPr>
                        <a:t>FVC model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0F242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919" b="1" i="0" spc="140" cap="all">
                          <a:solidFill>
                            <a:srgbClr val="0F5C55"/>
                          </a:solidFill>
                          <a:latin typeface="Segoe UI"/>
                        </a:rPr>
                        <a:t>NPP model family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0F242E"/>
                      </a:solidFill>
                      <a:prstDash val="solid"/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1" i="0">
                          <a:solidFill>
                            <a:srgbClr val="0F242E"/>
                          </a:solidFill>
                          <a:latin typeface="Segoe UI"/>
                        </a:rPr>
                        <a:t>Input dataset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0" i="0">
                          <a:solidFill>
                            <a:srgbClr val="55686F"/>
                          </a:solidFill>
                          <a:latin typeface="Segoe UI"/>
                        </a:rPr>
                        <a:t>3,420 cell-years across 90 cells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0" i="0">
                          <a:solidFill>
                            <a:srgbClr val="55686F"/>
                          </a:solidFill>
                          <a:latin typeface="Segoe UI"/>
                        </a:rPr>
                        <a:t>816 cell-years across 34 cells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1" i="0">
                          <a:solidFill>
                            <a:srgbClr val="0F242E"/>
                          </a:solidFill>
                          <a:latin typeface="Segoe UI"/>
                        </a:rPr>
                        <a:t>Feature examples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0" i="0">
                          <a:solidFill>
                            <a:srgbClr val="55686F"/>
                          </a:solidFill>
                          <a:latin typeface="Segoe UI"/>
                        </a:rPr>
                        <a:t>FVC, NDVI, observation-quality fields, temporal change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0" i="0">
                          <a:solidFill>
                            <a:srgbClr val="55686F"/>
                          </a:solidFill>
                          <a:latin typeface="Segoe UI"/>
                        </a:rPr>
                        <a:t>NPP, temporal change, valid-area ratio, era indicator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1" i="0">
                          <a:solidFill>
                            <a:srgbClr val="0F242E"/>
                          </a:solidFill>
                          <a:latin typeface="Segoe UI"/>
                        </a:rPr>
                        <a:t>Evaluation design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0" i="0">
                          <a:solidFill>
                            <a:srgbClr val="55686F"/>
                          </a:solidFill>
                          <a:latin typeface="Segoe UI"/>
                        </a:rPr>
                        <a:t>Held-out cells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0" i="0">
                          <a:solidFill>
                            <a:srgbClr val="55686F"/>
                          </a:solidFill>
                          <a:latin typeface="Segoe UI"/>
                        </a:rPr>
                        <a:t>Time and cell holdouts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1" i="0">
                          <a:solidFill>
                            <a:srgbClr val="0F242E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0" i="0">
                          <a:solidFill>
                            <a:srgbClr val="55686F"/>
                          </a:solidFill>
                          <a:latin typeface="Segoe UI"/>
                        </a:rPr>
                        <a:t>Advisory anomaly scores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0" i="0">
                          <a:solidFill>
                            <a:srgbClr val="55686F"/>
                          </a:solidFill>
                          <a:latin typeface="Segoe UI"/>
                        </a:rPr>
                        <a:t>Advisory anomaly scores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8952" y="4736592"/>
            <a:ext cx="82296" cy="82296"/>
          </a:xfrm>
          <a:prstGeom prst="rect">
            <a:avLst/>
          </a:prstGeom>
          <a:solidFill>
            <a:srgbClr val="0F5C5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468172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242E"/>
                </a:solidFill>
                <a:latin typeface="Segoe UI Semibold"/>
              </a:rPr>
              <a:t>Saved models and score tables support local reproduction.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5175504"/>
            <a:ext cx="10674065" cy="457200"/>
          </a:xfrm>
          <a:prstGeom prst="rect">
            <a:avLst/>
          </a:prstGeom>
          <a:solidFill>
            <a:srgbClr val="F7ED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" y="5175504"/>
            <a:ext cx="50292" cy="457200"/>
          </a:xfrm>
          <a:prstGeom prst="rect">
            <a:avLst/>
          </a:prstGeom>
          <a:solidFill>
            <a:srgbClr val="9560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5276088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95601F"/>
                </a:solidFill>
                <a:latin typeface="Segoe UI"/>
              </a:rPr>
              <a:t>Task exports are rule-derived. Real anomaly-detection performance remains unverified.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797296"/>
            <a:ext cx="1067406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8C9CA1"/>
                </a:solidFill>
                <a:latin typeface="Segoe UI"/>
              </a:rPr>
              <a:t>Both models are Isolation Forest. Scores are advisory and only order human review; the browser performs no model inference.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IEEE ClimateChain 2026   /   Climate Data &amp; Environmental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86F"/>
                </a:solidFill>
                <a:latin typeface="Georg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 spc="180" cap="all">
                <a:solidFill>
                  <a:srgbClr val="0F5C55"/>
                </a:solidFill>
                <a:latin typeface="Segoe UI Semibold"/>
              </a:rPr>
              <a:t>BLOCKCHAIN: HISTORICAL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937" y="4023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30" b="0" i="0" spc="150" cap="all">
                <a:solidFill>
                  <a:srgbClr val="8C9CA1"/>
                </a:solidFill>
                <a:latin typeface="Segoe UI Semibold"/>
              </a:rPr>
              <a:t>CarbonSat-MRV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22376"/>
            <a:ext cx="10674065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914400"/>
            <a:ext cx="1060704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F242E"/>
                </a:solidFill>
                <a:latin typeface="Segoe UI Semibold"/>
              </a:rPr>
              <a:t>A public reference for one historical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86F"/>
                </a:solidFill>
                <a:latin typeface="Segoe UI"/>
              </a:rPr>
              <a:t>Sepolia stores a single-record payload hash, method version and declaration category for later comparison.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1920240"/>
            <a:ext cx="5047488" cy="2688336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066543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80" b="0" i="0" spc="150" cap="all">
                <a:solidFill>
                  <a:srgbClr val="8C9CA1"/>
                </a:solidFill>
                <a:latin typeface="Segoe UI Semibold"/>
              </a:rPr>
              <a:t>OFF-CHAIN   ·   LOCAL BUNDLE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1" y="2464308"/>
            <a:ext cx="68580" cy="68580"/>
          </a:xfrm>
          <a:prstGeom prst="rect">
            <a:avLst/>
          </a:prstGeom>
          <a:solidFill>
            <a:srgbClr val="3F847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3774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20" b="0" i="0">
                <a:solidFill>
                  <a:srgbClr val="0F242E"/>
                </a:solidFill>
                <a:latin typeface="Segoe UI"/>
              </a:rPr>
              <a:t>Full evidence package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1" y="2706624"/>
            <a:ext cx="448056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3271" y="2830068"/>
            <a:ext cx="68580" cy="68580"/>
          </a:xfrm>
          <a:prstGeom prst="rect">
            <a:avLst/>
          </a:prstGeom>
          <a:solidFill>
            <a:srgbClr val="3F847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20" b="0" i="0">
                <a:solidFill>
                  <a:srgbClr val="0F242E"/>
                </a:solidFill>
                <a:latin typeface="Segoe UI"/>
              </a:rPr>
              <a:t>A2 land-cover stream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1" y="3072384"/>
            <a:ext cx="448056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3271" y="3195828"/>
            <a:ext cx="68580" cy="68580"/>
          </a:xfrm>
          <a:prstGeom prst="rect">
            <a:avLst/>
          </a:prstGeom>
          <a:solidFill>
            <a:srgbClr val="3F847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1089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20" b="0" i="0">
                <a:solidFill>
                  <a:srgbClr val="0F242E"/>
                </a:solidFill>
                <a:latin typeface="Segoe UI"/>
              </a:rPr>
              <a:t>Engebei research 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1" y="3438144"/>
            <a:ext cx="448056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3271" y="3561588"/>
            <a:ext cx="68580" cy="68580"/>
          </a:xfrm>
          <a:prstGeom prst="rect">
            <a:avLst/>
          </a:prstGeom>
          <a:solidFill>
            <a:srgbClr val="3F847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4747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20" b="0" i="0">
                <a:solidFill>
                  <a:srgbClr val="0F242E"/>
                </a:solidFill>
                <a:latin typeface="Segoe UI"/>
              </a:rPr>
              <a:t>Local Merkle batch root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1" y="3803904"/>
            <a:ext cx="448056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3895344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60" b="0" i="1">
                <a:solidFill>
                  <a:srgbClr val="55686F"/>
                </a:solidFill>
                <a:latin typeface="Segoe UI"/>
              </a:rPr>
              <a:t>Stored locally. Not written to the chain.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920240"/>
            <a:ext cx="5285232" cy="2688336"/>
          </a:xfrm>
          <a:prstGeom prst="rect">
            <a:avLst/>
          </a:prstGeom>
          <a:solidFill>
            <a:srgbClr val="0F24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066543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80" b="0" i="0" spc="150" cap="all">
                <a:solidFill>
                  <a:srgbClr val="7FB3A9"/>
                </a:solidFill>
                <a:latin typeface="Segoe UI Semibold"/>
              </a:rPr>
              <a:t>HISTORICAL SEPOLIA 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26771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FFFFFF"/>
                </a:solidFill>
                <a:latin typeface="Georgia"/>
              </a:rPr>
              <a:t>cell_0030_2012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688336"/>
            <a:ext cx="2121408" cy="246888"/>
          </a:xfrm>
          <a:prstGeom prst="roundRect">
            <a:avLst>
              <a:gd name="adj" fmla="val 42000"/>
            </a:avLst>
          </a:prstGeom>
          <a:noFill/>
          <a:ln w="9525">
            <a:solidFill>
              <a:srgbClr val="3F847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738628"/>
            <a:ext cx="212140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</a:pPr>
            <a:r>
              <a:rPr sz="680" b="0" i="0" spc="70">
                <a:solidFill>
                  <a:srgbClr val="9FD0C6"/>
                </a:solidFill>
                <a:latin typeface="Consolas"/>
              </a:rPr>
              <a:t>DESCRIPTIVE_NPP_ONLY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5409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40" b="0" i="0" spc="150" cap="all">
                <a:solidFill>
                  <a:srgbClr val="7FB3A9"/>
                </a:solidFill>
                <a:latin typeface="Segoe UI Semibold"/>
              </a:rPr>
              <a:t>ANCHORED FIELDS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28416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D6E1DF"/>
                </a:solidFill>
                <a:latin typeface="Segoe UI"/>
              </a:rPr>
              <a:t>packHash — single-record payload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602736"/>
            <a:ext cx="4754880" cy="5486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694176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D6E1DF"/>
                </a:solidFill>
                <a:latin typeface="Segoe UI"/>
              </a:rPr>
              <a:t>methodVersion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968496"/>
            <a:ext cx="4754880" cy="5486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59936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D6E1DF"/>
                </a:solidFill>
                <a:latin typeface="Segoe UI"/>
              </a:rPr>
              <a:t>declarationCategory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334256"/>
            <a:ext cx="4754880" cy="5486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8952" y="4736592"/>
            <a:ext cx="10674065" cy="493776"/>
          </a:xfrm>
          <a:prstGeom prst="rect">
            <a:avLst/>
          </a:prstGeom>
          <a:solidFill>
            <a:srgbClr val="F7ED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5" y="4828032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40" b="0" i="0">
                <a:solidFill>
                  <a:srgbClr val="95601F"/>
                </a:solidFill>
                <a:latin typeface="Segoe UI"/>
              </a:rPr>
              <a:t>Registration records a reference. It does not establish scientific validity or certify carbon credits.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321808"/>
            <a:ext cx="10674065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760" b="0" i="0">
                <a:solidFill>
                  <a:srgbClr val="8C9CA1"/>
                </a:solidFill>
                <a:latin typeface="Consolas"/>
              </a:rPr>
              <a:t>Contract   </a:t>
            </a:r>
            <a:r>
              <a:rPr sz="760" b="0" i="0">
                <a:solidFill>
                  <a:srgbClr val="55686F"/>
                </a:solidFill>
                <a:latin typeface="Consolas"/>
                <a:hlinkClick r:id="rId2"/>
              </a:rPr>
              <a:t>0x248EFE2E5579613d47e9Abe743d7528fBECE3c88</a:t>
            </a:r>
            <a:r>
              <a:rPr sz="760" b="0" i="0">
                <a:solidFill>
                  <a:srgbClr val="3F8479"/>
                </a:solidFill>
                <a:latin typeface="Consolas"/>
              </a:rPr>
              <a:t>  ↗</a:t>
            </a:r>
            <a:r>
              <a:rPr sz="760" b="0" i="0">
                <a:solidFill>
                  <a:srgbClr val="8C9CA1"/>
                </a:solidFill>
                <a:latin typeface="Consolas"/>
              </a:rPr>
              <a:t>        Register tx   </a:t>
            </a:r>
            <a:r>
              <a:rPr sz="760" b="0" i="0">
                <a:solidFill>
                  <a:srgbClr val="55686F"/>
                </a:solidFill>
                <a:latin typeface="Consolas"/>
                <a:hlinkClick r:id="rId3"/>
              </a:rPr>
              <a:t>0x79dee25dba251dc339049ca3d91400f32d5fbb5dacb85def9e507262303e450f</a:t>
            </a:r>
            <a:r>
              <a:rPr sz="760" b="0" i="0">
                <a:solidFill>
                  <a:srgbClr val="3F8479"/>
                </a:solidFill>
                <a:latin typeface="Consolas"/>
              </a:rPr>
              <a:t>  ↗</a:t>
            </a:r>
          </a:p>
          <a:p>
            <a:pPr algn="l">
              <a:lnSpc>
                <a:spcPct val="145000"/>
              </a:lnSpc>
            </a:pPr>
            <a:r>
              <a:rPr sz="760" b="0" i="0">
                <a:solidFill>
                  <a:srgbClr val="8C9CA1"/>
                </a:solidFill>
                <a:latin typeface="Consolas"/>
              </a:rPr>
              <a:t>Payload packHash   </a:t>
            </a:r>
            <a:r>
              <a:rPr sz="760" b="0" i="0">
                <a:solidFill>
                  <a:srgbClr val="55686F"/>
                </a:solidFill>
                <a:latin typeface="Consolas"/>
              </a:rPr>
              <a:t>0xb3cd7107866918846f3a99f04350c037f046ae7864e7c045f8b0108c2cc75402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5888736"/>
            <a:ext cx="10674065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5686F"/>
                </a:solidFill>
                <a:latin typeface="Segoe UI"/>
              </a:rPr>
              <a:t>One historical record only. No new transaction, deployment or credit issuance.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IEEE ClimateChain 2026   /   Climate Data &amp; Environmental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86F"/>
                </a:solidFill>
                <a:latin typeface="Georgi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 spc="180" cap="all">
                <a:solidFill>
                  <a:srgbClr val="0F5C55"/>
                </a:solidFill>
                <a:latin typeface="Segoe UI Semibold"/>
              </a:rPr>
              <a:t>WORKBENCH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937" y="4023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30" b="0" i="0" spc="150" cap="all">
                <a:solidFill>
                  <a:srgbClr val="8C9CA1"/>
                </a:solidFill>
                <a:latin typeface="Segoe UI Semibold"/>
              </a:rPr>
              <a:t>CarbonSat-MRV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22376"/>
            <a:ext cx="10674065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914400"/>
            <a:ext cx="1060704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F242E"/>
                </a:solidFill>
                <a:latin typeface="Segoe UI Semibold"/>
              </a:rPr>
              <a:t>Record-linked evidence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86F"/>
                </a:solidFill>
                <a:latin typeface="Segoe UI"/>
              </a:rPr>
              <a:t>Keep the selected cell and year in context while inspecting the result and opening its ledger entry.</a:t>
            </a:r>
          </a:p>
        </p:txBody>
      </p:sp>
      <p:pic>
        <p:nvPicPr>
          <p:cNvPr id="7" name="Picture 6" descr="slide-05-screensh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20240"/>
            <a:ext cx="6876288" cy="391262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8952" y="1920240"/>
            <a:ext cx="6876288" cy="3912622"/>
          </a:xfrm>
          <a:prstGeom prst="rect">
            <a:avLst/>
          </a:prstGeom>
          <a:noFill/>
          <a:ln w="9525">
            <a:solidFill>
              <a:srgbClr val="DCE2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5906014"/>
            <a:ext cx="687628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Actual English workbench, cell_0020 · 2024</a:t>
            </a:r>
          </a:p>
        </p:txBody>
      </p:sp>
      <p:sp>
        <p:nvSpPr>
          <p:cNvPr id="10" name="Oval 9"/>
          <p:cNvSpPr/>
          <p:nvPr/>
        </p:nvSpPr>
        <p:spPr>
          <a:xfrm>
            <a:off x="6979787" y="3235698"/>
            <a:ext cx="288950" cy="288950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05391" y="3261301"/>
            <a:ext cx="237744" cy="237744"/>
          </a:xfrm>
          <a:prstGeom prst="ellipse">
            <a:avLst/>
          </a:prstGeom>
          <a:solidFill>
            <a:srgbClr val="0F5C5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5391" y="329970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6979787" y="4202904"/>
            <a:ext cx="288950" cy="288950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05391" y="4228507"/>
            <a:ext cx="237744" cy="237744"/>
          </a:xfrm>
          <a:prstGeom prst="ellipse">
            <a:avLst/>
          </a:prstGeom>
          <a:solidFill>
            <a:srgbClr val="0F5C5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5391" y="4266912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4857428" y="5296049"/>
            <a:ext cx="270662" cy="270662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83031" y="5321652"/>
            <a:ext cx="219456" cy="219456"/>
          </a:xfrm>
          <a:prstGeom prst="ellipse">
            <a:avLst/>
          </a:prstGeom>
          <a:solidFill>
            <a:srgbClr val="0F5C5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3031" y="5360057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19751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F8479"/>
                </a:solidFill>
                <a:latin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1947672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260" b="0" i="0">
                <a:solidFill>
                  <a:srgbClr val="0F242E"/>
                </a:solidFill>
                <a:latin typeface="Segoe UI Semibold"/>
              </a:rPr>
              <a:t>Value with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249424"/>
            <a:ext cx="294436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1040" b="0" i="0">
                <a:solidFill>
                  <a:srgbClr val="55686F"/>
                </a:solidFill>
                <a:latin typeface="Segoe UI"/>
              </a:rPr>
              <a:t>Inspect production beside its valid area and coverage.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18704" y="2999232"/>
            <a:ext cx="347472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32552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F8479"/>
                </a:solidFill>
                <a:latin typeface="Georgia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227832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260" b="0" i="0">
                <a:solidFill>
                  <a:srgbClr val="0F242E"/>
                </a:solidFill>
                <a:latin typeface="Segoe UI Semibold"/>
              </a:rPr>
              <a:t>Evidence with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3529584"/>
            <a:ext cx="294436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1040" b="0" i="0">
                <a:solidFill>
                  <a:srgbClr val="55686F"/>
                </a:solidFill>
                <a:latin typeface="Segoe UI"/>
              </a:rPr>
              <a:t>Distinguish local checks, release-reference agreement and historical source checks.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18704" y="4279392"/>
            <a:ext cx="347472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45354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F8479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4507992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260" b="0" i="0">
                <a:solidFill>
                  <a:srgbClr val="0F242E"/>
                </a:solidFill>
                <a:latin typeface="Segoe UI Semibold"/>
              </a:rPr>
              <a:t>Linked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4809744"/>
            <a:ext cx="294436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1040" b="0" i="0">
                <a:solidFill>
                  <a:srgbClr val="55686F"/>
                </a:solidFill>
                <a:latin typeface="Segoe UI"/>
              </a:rPr>
              <a:t>Carry the selected cell and year into the change ledger.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8704" y="5669280"/>
            <a:ext cx="3511296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860" b="0" i="0">
                <a:solidFill>
                  <a:srgbClr val="8C9CA1"/>
                </a:solidFill>
                <a:latin typeface="Segoe UI"/>
              </a:rPr>
              <a:t>Numbered annotations identify the demonstration steps.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IEEE ClimateChain 2026   /   Climate Data &amp; Environmental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86F"/>
                </a:solidFill>
                <a:latin typeface="Georgi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 spc="180" cap="all">
                <a:solidFill>
                  <a:srgbClr val="0F5C55"/>
                </a:solidFill>
                <a:latin typeface="Segoe UI Semibold"/>
              </a:rPr>
              <a:t>DELIVERED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937" y="4023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30" b="0" i="0" spc="150" cap="all">
                <a:solidFill>
                  <a:srgbClr val="8C9CA1"/>
                </a:solidFill>
                <a:latin typeface="Segoe UI Semibold"/>
              </a:rPr>
              <a:t>CarbonSat-MRV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22376"/>
            <a:ext cx="10674065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91440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F242E"/>
                </a:solidFill>
                <a:latin typeface="Segoe UI Semibold"/>
              </a:rPr>
              <a:t>A review task list for the next reviewer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86F"/>
                </a:solidFill>
                <a:latin typeface="Segoe UI"/>
              </a:rPr>
              <a:t>Hand over unresolved questions with their record identity and interpretation limits.</a:t>
            </a:r>
          </a:p>
        </p:txBody>
      </p:sp>
      <p:pic>
        <p:nvPicPr>
          <p:cNvPr id="7" name="Picture 6" descr="slide-06-screensh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20240"/>
            <a:ext cx="6720840" cy="16159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8952" y="1920240"/>
            <a:ext cx="6720840" cy="1615939"/>
          </a:xfrm>
          <a:prstGeom prst="rect">
            <a:avLst/>
          </a:prstGeom>
          <a:noFill/>
          <a:ln w="9525">
            <a:solidFill>
              <a:srgbClr val="DCE2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609331"/>
            <a:ext cx="672084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Actual export panel: complete rule task list, stable digest, event timestamp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92024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80" b="0" i="0" spc="150" cap="all">
                <a:solidFill>
                  <a:srgbClr val="0F5C55"/>
                </a:solidFill>
                <a:latin typeface="Segoe UI Semibold"/>
              </a:rPr>
              <a:t>WHAT THE NEXT REVIEWER RECEIVES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94560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140" b="0" i="0">
                <a:solidFill>
                  <a:srgbClr val="0F242E"/>
                </a:solidFill>
                <a:latin typeface="Segoe UI Semibold"/>
              </a:rPr>
              <a:t>172 rule-derived review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432304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60" b="0" i="0">
                <a:solidFill>
                  <a:srgbClr val="55686F"/>
                </a:solidFill>
                <a:latin typeface="Segoe UI"/>
              </a:rPr>
              <a:t>The complete task list, exported as JSON.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907791"/>
            <a:ext cx="356616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2980944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140" b="0" i="0">
                <a:solidFill>
                  <a:srgbClr val="0F242E"/>
                </a:solidFill>
                <a:latin typeface="Segoe UI Semibold"/>
              </a:rPr>
              <a:t>Stable task-content digest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218687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60" b="0" i="0">
                <a:solidFill>
                  <a:srgbClr val="55686F"/>
                </a:solidFill>
                <a:latin typeface="Segoe UI"/>
              </a:rPr>
              <a:t>Compare task content independently of the event timestamp.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3694176"/>
            <a:ext cx="356616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3767328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140" b="0" i="0">
                <a:solidFill>
                  <a:srgbClr val="0F242E"/>
                </a:solidFill>
                <a:latin typeface="Segoe UI Semibold"/>
              </a:rPr>
              <a:t>Entry-specific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005072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60" b="0" i="0">
                <a:solidFill>
                  <a:srgbClr val="55686F"/>
                </a:solidFill>
                <a:latin typeface="Segoe UI"/>
              </a:rPr>
              <a:t>Keep open questions and claim limits available for follow-up.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4572000"/>
            <a:ext cx="10674065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4663440"/>
            <a:ext cx="50292" cy="402336"/>
          </a:xfrm>
          <a:prstGeom prst="rect">
            <a:avLst/>
          </a:prstGeom>
          <a:solidFill>
            <a:srgbClr val="0F5C5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7" y="470001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80" b="0" i="0">
                <a:solidFill>
                  <a:srgbClr val="0F242E"/>
                </a:solidFill>
                <a:latin typeface="Segoe UI Semibold"/>
              </a:rPr>
              <a:t>Ledger comparisons stay within one cell and analysis segment. Cross-cell and cross-2012 comparisons are refused.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5193792"/>
            <a:ext cx="10674065" cy="530352"/>
          </a:xfrm>
          <a:prstGeom prst="rect">
            <a:avLst/>
          </a:prstGeom>
          <a:solidFill>
            <a:srgbClr val="E3EDE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5" y="5303520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40" b="0" i="0">
                <a:solidFill>
                  <a:srgbClr val="0F5C55"/>
                </a:solidFill>
                <a:latin typeface="Segoe UI Semibold"/>
              </a:rPr>
              <a:t>Next:  </a:t>
            </a:r>
            <a:r>
              <a:rPr sz="1140" b="0" i="0">
                <a:solidFill>
                  <a:srgbClr val="0F242E"/>
                </a:solidFill>
                <a:latin typeface="Segoe UI"/>
              </a:rPr>
              <a:t>independent reviewers test whether they can interpret coverage correctly and export a review task.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8521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55686F"/>
                </a:solidFill>
                <a:latin typeface="Segoe UI"/>
              </a:rPr>
              <a:t>Field accuracy, real-user benefits and anomaly-detection performance remain unverified.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IEEE ClimateChain 2026   /   Climate Data &amp; Environmental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86F"/>
                </a:solidFill>
                <a:latin typeface="Georgi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 spc="180" cap="all">
                <a:solidFill>
                  <a:srgbClr val="8C9CA1"/>
                </a:solidFill>
                <a:latin typeface="Segoe UI Semibold"/>
              </a:rPr>
              <a:t>APPENDIX: CASE A: A SINGLE RESEARCH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937" y="4023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30" b="0" i="0" spc="150" cap="all">
                <a:solidFill>
                  <a:srgbClr val="8C9CA1"/>
                </a:solidFill>
                <a:latin typeface="Segoe UI Semibold"/>
              </a:rPr>
              <a:t>CarbonSat-MRV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22376"/>
            <a:ext cx="10674065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91440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F242E"/>
                </a:solidFill>
                <a:latin typeface="Segoe UI Semibold"/>
              </a:rPr>
              <a:t>Production with its area 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86F"/>
                </a:solidFill>
                <a:latin typeface="Segoe UI"/>
              </a:rPr>
              <a:t>cell_0020, 2012–2024 only. Values are model outputs on that year's valid product footprint.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58952" y="2048256"/>
          <a:ext cx="6903720" cy="34930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" y="182880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60" b="0" i="0" spc="110">
                <a:solidFill>
                  <a:srgbClr val="8C9CA1"/>
                </a:solidFill>
                <a:latin typeface="Segoe UI Semibold"/>
              </a:rPr>
              <a:t>tC/yr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2024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80" b="0" i="0" spc="150" cap="all">
                <a:solidFill>
                  <a:srgbClr val="0F5C55"/>
                </a:solidFill>
                <a:latin typeface="Segoe UI Semibold"/>
              </a:rPr>
              <a:t>2024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084831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0F5C55"/>
                </a:solidFill>
                <a:latin typeface="Georgia"/>
              </a:rPr>
              <a:t>4,863.54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7" y="2706624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8C9CA1"/>
                </a:solidFill>
                <a:latin typeface="Segoe UI"/>
              </a:rPr>
              <a:t>tC/yr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7" y="3054096"/>
            <a:ext cx="3547872" cy="10972"/>
          </a:xfrm>
          <a:prstGeom prst="rect">
            <a:avLst/>
          </a:prstGeom>
          <a:solidFill>
            <a:srgbClr val="0F24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16382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40" b="0" i="0">
                <a:solidFill>
                  <a:srgbClr val="55686F"/>
                </a:solidFill>
                <a:latin typeface="Segoe UI"/>
              </a:rPr>
              <a:t>Valid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3808" y="3145536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0000"/>
              </a:lnSpc>
            </a:pPr>
            <a:r>
              <a:rPr sz="1160" b="0" i="0">
                <a:solidFill>
                  <a:srgbClr val="0F242E"/>
                </a:solidFill>
                <a:latin typeface="Segoe UI Semibold"/>
              </a:rPr>
              <a:t>34.14 km²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356616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40" b="0" i="0">
                <a:solidFill>
                  <a:srgbClr val="55686F"/>
                </a:solidFill>
                <a:latin typeface="Segoe UI"/>
              </a:rPr>
              <a:t>Valid-area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3808" y="3547872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0000"/>
              </a:lnSpc>
            </a:pPr>
            <a:r>
              <a:rPr sz="1160" b="0" i="0">
                <a:solidFill>
                  <a:srgbClr val="0F242E"/>
                </a:solidFill>
                <a:latin typeface="Segoe UI Semibold"/>
              </a:rP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3968496"/>
            <a:ext cx="3547872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4096512"/>
            <a:ext cx="345643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1">
                <a:solidFill>
                  <a:srgbClr val="95601F"/>
                </a:solidFill>
                <a:latin typeface="Segoe UI"/>
              </a:rPr>
              <a:t>The ratio does not prove identical pixel positions across years.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577840"/>
            <a:ext cx="6903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8C9CA1"/>
                </a:solidFill>
                <a:latin typeface="Segoe UI"/>
              </a:rPr>
              <a:t>Chart rounded to 0.01 tC/yr. The 2012 break cause and cross-year pixel identity remain unverified.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IEEE ClimateChain 2026   /   Climate Data &amp; Environmental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86F"/>
                </a:solidFill>
                <a:latin typeface="Georgi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 spc="180" cap="all">
                <a:solidFill>
                  <a:srgbClr val="8C9CA1"/>
                </a:solidFill>
                <a:latin typeface="Segoe UI Semibold"/>
              </a:rPr>
              <a:t>APPENDIX: CASE B: ENGEBEI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937" y="4023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30" b="0" i="0" spc="150" cap="all">
                <a:solidFill>
                  <a:srgbClr val="8C9CA1"/>
                </a:solidFill>
                <a:latin typeface="Segoe UI Semibold"/>
              </a:rPr>
              <a:t>CarbonSat-MRV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22376"/>
            <a:ext cx="10674065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91440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F242E"/>
                </a:solidFill>
                <a:latin typeface="Segoe UI Semibold"/>
              </a:rPr>
              <a:t>Partial coverage changes the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86F"/>
                </a:solidFill>
                <a:latin typeface="Segoe UI"/>
              </a:rPr>
              <a:t>A paper-reported research window, not an official restoration-project boundary.</a:t>
            </a:r>
          </a:p>
        </p:txBody>
      </p:sp>
      <p:pic>
        <p:nvPicPr>
          <p:cNvPr id="7" name="Picture 6" descr="slide-08-screensh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883664"/>
            <a:ext cx="6126480" cy="359546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8952" y="1883664"/>
            <a:ext cx="6126480" cy="3595463"/>
          </a:xfrm>
          <a:prstGeom prst="rect">
            <a:avLst/>
          </a:prstGeom>
          <a:noFill/>
          <a:ln w="9525">
            <a:solidFill>
              <a:srgbClr val="DCE2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5570567"/>
            <a:ext cx="61264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Actual English workbench, Engebei research window selected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1920240"/>
            <a:ext cx="42062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0F5C55"/>
                </a:solidFill>
                <a:latin typeface="Georgia"/>
              </a:rPr>
              <a:t>93.12%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2" y="27980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0F242E"/>
                </a:solidFill>
                <a:latin typeface="Segoe UI Semibold"/>
              </a:rPr>
              <a:t>valid-area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5472" y="3072384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86F"/>
                </a:solidFill>
                <a:latin typeface="Segoe UI"/>
              </a:rPr>
              <a:t>in all 24 years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2" y="3438144"/>
            <a:ext cx="4160520" cy="8229"/>
          </a:xfrm>
          <a:prstGeom prst="rect">
            <a:avLst/>
          </a:prstGeom>
          <a:solidFill>
            <a:srgbClr val="0F24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358444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F242E"/>
                </a:solidFill>
                <a:latin typeface="Segoe UI Semibold"/>
              </a:rPr>
              <a:t>2024: 30,780.13 tC/yr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5472" y="4206240"/>
            <a:ext cx="4187952" cy="1097280"/>
          </a:xfrm>
          <a:prstGeom prst="rect">
            <a:avLst/>
          </a:prstGeom>
          <a:solidFill>
            <a:srgbClr val="F7EDD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5472" y="4206240"/>
            <a:ext cx="50292" cy="1097280"/>
          </a:xfrm>
          <a:prstGeom prst="rect">
            <a:avLst/>
          </a:prstGeom>
          <a:solidFill>
            <a:srgbClr val="9560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6" y="4370832"/>
            <a:ext cx="37033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40" b="0" i="0">
                <a:solidFill>
                  <a:srgbClr val="95601F"/>
                </a:solidFill>
                <a:latin typeface="Segoe UI"/>
              </a:rPr>
              <a:t>Production on the valid product footprint only. No extrapolation to the whole window.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IEEE ClimateChain 2026   /   Climate Data &amp; Environmental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86F"/>
                </a:solidFill>
                <a:latin typeface="Georgi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 spc="180" cap="all">
                <a:solidFill>
                  <a:srgbClr val="8C9CA1"/>
                </a:solidFill>
                <a:latin typeface="Segoe UI Semibold"/>
              </a:rPr>
              <a:t>APPENDIX: REVIEW HAND-OFF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937" y="4023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30" b="0" i="0" spc="150" cap="all">
                <a:solidFill>
                  <a:srgbClr val="8C9CA1"/>
                </a:solidFill>
                <a:latin typeface="Segoe UI Semibold"/>
              </a:rPr>
              <a:t>CarbonSat-MRV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22376"/>
            <a:ext cx="10674065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91440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F242E"/>
                </a:solidFill>
                <a:latin typeface="Segoe UI Semibold"/>
              </a:rPr>
              <a:t>A difference becomes a review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86F"/>
                </a:solidFill>
                <a:latin typeface="Segoe UI"/>
              </a:rPr>
              <a:t>Same cell, same era, adjacent years. Each entry carries sources and limits.</a:t>
            </a:r>
          </a:p>
        </p:txBody>
      </p:sp>
      <p:pic>
        <p:nvPicPr>
          <p:cNvPr id="7" name="Picture 6" descr="slide-09-screensh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883664"/>
            <a:ext cx="6126480" cy="359546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8952" y="1883664"/>
            <a:ext cx="6126480" cy="3595463"/>
          </a:xfrm>
          <a:prstGeom prst="rect">
            <a:avLst/>
          </a:prstGeom>
          <a:noFill/>
          <a:ln w="9525">
            <a:solidFill>
              <a:srgbClr val="DCE2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5570567"/>
            <a:ext cx="61264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Actual change-ledger and export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1993392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242E"/>
                </a:solidFill>
                <a:latin typeface="Segoe UI Semibold"/>
              </a:rPr>
              <a:t>Comparability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2" y="228600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60" b="0" i="0">
                <a:solidFill>
                  <a:srgbClr val="55686F"/>
                </a:solidFill>
                <a:latin typeface="Segoe UI"/>
              </a:rPr>
              <a:t>Area consistency stays separate from pixel identity.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2889504"/>
            <a:ext cx="416052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145536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242E"/>
                </a:solidFill>
                <a:latin typeface="Segoe UI Semibold"/>
              </a:rPr>
              <a:t>Explicit refusals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3438144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60" b="0" i="0">
                <a:solidFill>
                  <a:srgbClr val="55686F"/>
                </a:solidFill>
                <a:latin typeface="Segoe UI"/>
              </a:rPr>
              <a:t>Cross-cell and cross-2012 comparisons are refused.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5472" y="4041648"/>
            <a:ext cx="4160520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29768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242E"/>
                </a:solidFill>
                <a:latin typeface="Segoe UI Semibold"/>
              </a:rPr>
              <a:t>Portable hand-off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4590288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60" b="0" i="0">
                <a:solidFill>
                  <a:srgbClr val="55686F"/>
                </a:solidFill>
                <a:latin typeface="Segoe UI"/>
              </a:rPr>
              <a:t>The complete rule-derived task list, with a stable digest.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IEEE ClimateChain 2026   /   Climate Data &amp; Environmental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86F"/>
                </a:solidFill>
                <a:latin typeface="Georgi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 spc="180" cap="all">
                <a:solidFill>
                  <a:srgbClr val="8C9CA1"/>
                </a:solidFill>
                <a:latin typeface="Segoe UI Semibold"/>
              </a:rPr>
              <a:t>APPENDIX: 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937" y="4023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30" b="0" i="0" spc="150" cap="all">
                <a:solidFill>
                  <a:srgbClr val="8C9CA1"/>
                </a:solidFill>
                <a:latin typeface="Segoe UI Semibold"/>
              </a:rPr>
              <a:t>CarbonSat-MRV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22376"/>
            <a:ext cx="10674065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91440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F242E"/>
                </a:solidFill>
                <a:latin typeface="Segoe UI Semibold"/>
              </a:rPr>
              <a:t>Checks with an explicit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86F"/>
                </a:solidFill>
                <a:latin typeface="Segoe UI"/>
              </a:rPr>
              <a:t>Software consistency, upstream reproduction and scientific validity are different questions.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883664"/>
          <a:ext cx="10652759" cy="2322576"/>
        </p:xfrm>
        <a:graphic>
          <a:graphicData uri="http://schemas.openxmlformats.org/drawingml/2006/table">
            <a:tbl>
              <a:tblPr firstRow="0" bandRow="0"/>
              <a:tblGrid>
                <a:gridCol w="2514600"/>
                <a:gridCol w="3977639"/>
                <a:gridCol w="416052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800" b="1" i="0" spc="140" cap="all">
                          <a:solidFill>
                            <a:srgbClr val="0F5C55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0F242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800" b="1" i="0" spc="140" cap="all">
                          <a:solidFill>
                            <a:srgbClr val="0F5C55"/>
                          </a:solidFill>
                          <a:latin typeface="Segoe UI"/>
                        </a:rPr>
                        <a:t>Observed result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0F242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800" b="1" i="0" spc="140" cap="all">
                          <a:solidFill>
                            <a:srgbClr val="0F5C55"/>
                          </a:solidFill>
                          <a:latin typeface="Segoe UI"/>
                        </a:rPr>
                        <a:t>What it supports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0F242E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1" i="0">
                          <a:solidFill>
                            <a:srgbClr val="0F242E"/>
                          </a:solidFill>
                          <a:latin typeface="Segoe UI"/>
                        </a:rPr>
                        <a:t>Software and model checks</a:t>
                      </a:r>
                    </a:p>
                  </a:txBody>
                  <a:tcPr marL="128016" marR="128016" marT="73152" marB="7315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0" i="0">
                          <a:solidFill>
                            <a:srgbClr val="55686F"/>
                          </a:solidFill>
                          <a:latin typeface="Segoe UI"/>
                        </a:rPr>
                        <a:t>Historical release: 331 passing</a:t>
                      </a:r>
                    </a:p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0" i="0">
                          <a:solidFill>
                            <a:srgbClr val="55686F"/>
                          </a:solidFill>
                          <a:latin typeface="Segoe UI"/>
                        </a:rPr>
                        <a:t>Model read-only checks: 19/19</a:t>
                      </a:r>
                    </a:p>
                  </a:txBody>
                  <a:tcPr marL="128016" marR="128016" marT="73152" marB="7315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0" i="0">
                          <a:solidFill>
                            <a:srgbClr val="55686F"/>
                          </a:solidFill>
                          <a:latin typeface="Segoe UI"/>
                        </a:rPr>
                        <a:t>Local regression and score reproduction</a:t>
                      </a:r>
                    </a:p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0" i="0">
                          <a:solidFill>
                            <a:srgbClr val="55686F"/>
                          </a:solidFill>
                          <a:latin typeface="Segoe UI"/>
                        </a:rPr>
                        <a:t>Real detection performance unverified</a:t>
                      </a:r>
                    </a:p>
                  </a:txBody>
                  <a:tcPr marL="128016" marR="128016" marT="73152" marB="7315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1" i="0">
                          <a:solidFill>
                            <a:srgbClr val="0F242E"/>
                          </a:solidFill>
                          <a:latin typeface="Segoe UI"/>
                        </a:rPr>
                        <a:t>Upstream sample</a:t>
                      </a:r>
                    </a:p>
                  </a:txBody>
                  <a:tcPr marL="128016" marR="128016" marT="73152" marB="7315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0" i="0">
                          <a:solidFill>
                            <a:srgbClr val="55686F"/>
                          </a:solidFill>
                          <a:latin typeface="Segoe UI"/>
                        </a:rPr>
                        <a:t>9 / 840 object-years</a:t>
                      </a:r>
                    </a:p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0" i="0">
                          <a:solidFill>
                            <a:srgbClr val="55686F"/>
                          </a:solidFill>
                          <a:latin typeface="Segoe UI"/>
                        </a:rPr>
                        <a:t>Max relative diff: 1.94×10⁻¹⁶</a:t>
                      </a:r>
                    </a:p>
                  </a:txBody>
                  <a:tcPr marL="128016" marR="128016" marT="73152" marB="7315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0" i="0">
                          <a:solidFill>
                            <a:srgbClr val="55686F"/>
                          </a:solidFill>
                          <a:latin typeface="Segoe UI"/>
                        </a:rPr>
                        <a:t>Sample reproduction under the specified settings</a:t>
                      </a:r>
                    </a:p>
                  </a:txBody>
                  <a:tcPr marL="128016" marR="128016" marT="73152" marB="7315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0" i="0">
                          <a:solidFill>
                            <a:srgbClr val="95601F"/>
                          </a:solidFill>
                          <a:latin typeface="Segoe UI"/>
                        </a:rPr>
                        <a:t>Scientific / user evidence</a:t>
                      </a:r>
                    </a:p>
                  </a:txBody>
                  <a:tcPr marL="128016" marR="128016" marT="73152" marB="7315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solidFill>
                      <a:srgbClr val="F7EDD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0" i="0">
                          <a:solidFill>
                            <a:srgbClr val="95601F"/>
                          </a:solidFill>
                          <a:latin typeface="Segoe UI"/>
                        </a:rPr>
                        <a:t>Ground reference: not tested</a:t>
                      </a:r>
                    </a:p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0" i="0">
                          <a:solidFill>
                            <a:srgbClr val="95601F"/>
                          </a:solidFill>
                          <a:latin typeface="Segoe UI"/>
                        </a:rPr>
                        <a:t>Real-user study: not run</a:t>
                      </a:r>
                    </a:p>
                  </a:txBody>
                  <a:tcPr marL="128016" marR="128016" marT="73152" marB="7315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solidFill>
                      <a:srgbClr val="F7EDD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19" b="0" i="0">
                          <a:solidFill>
                            <a:srgbClr val="95601F"/>
                          </a:solidFill>
                          <a:latin typeface="Segoe UI"/>
                        </a:rPr>
                        <a:t>No ground accuracy or user benefit yet validated</a:t>
                      </a:r>
                    </a:p>
                  </a:txBody>
                  <a:tcPr marL="128016" marR="128016" marT="73152" marB="7315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solidFill>
                      <a:srgbClr val="F7EDD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" y="5047488"/>
            <a:ext cx="1024128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i="1">
                <a:solidFill>
                  <a:srgbClr val="0F242E"/>
                </a:solidFill>
                <a:latin typeface="Georgia"/>
              </a:rPr>
              <a:t>Self-consistency is not source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54126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980" b="0" i="0">
                <a:solidFill>
                  <a:srgbClr val="55686F"/>
                </a:solidFill>
                <a:latin typeface="Segoe UI"/>
              </a:rPr>
              <a:t>FVC v1.1: 3,420/3,420 grid scores reproduce in a separate development fix. The trained forest is unchanged. Real anomaly performance remains unverified.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IEEE ClimateChain 2026   /   Climate Data &amp; Environmental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86F"/>
                </a:solidFill>
                <a:latin typeface="Georg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 spc="180" cap="all">
                <a:solidFill>
                  <a:srgbClr val="7FB3A9"/>
                </a:solidFill>
                <a:latin typeface="Segoe UI Semibold"/>
              </a:rPr>
              <a:t>APPENDIX: PROTOTYPE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937" y="4023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30" b="0" i="0" spc="150" cap="all">
                <a:solidFill>
                  <a:srgbClr val="9DB0B6"/>
                </a:solidFill>
                <a:latin typeface="Segoe UI Semibold"/>
              </a:rPr>
              <a:t>CarbonSat-MRV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22376"/>
            <a:ext cx="10674065" cy="6400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91440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FFFFFF"/>
                </a:solidFill>
                <a:latin typeface="Segoe UI Semibold"/>
              </a:rPr>
              <a:t>Prototype access and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20240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80" b="0" i="0" spc="150" cap="all">
                <a:solidFill>
                  <a:srgbClr val="7FB3A9"/>
                </a:solidFill>
                <a:latin typeface="Segoe UI Semibold"/>
              </a:rPr>
              <a:t>WHAT THE LOCAL PROTOTYPE CONTAINS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350008"/>
            <a:ext cx="73152" cy="73152"/>
          </a:xfrm>
          <a:prstGeom prst="rect">
            <a:avLst/>
          </a:prstGeom>
          <a:solidFill>
            <a:srgbClr val="3F847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22585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60" b="0" i="0">
                <a:solidFill>
                  <a:srgbClr val="E4EBE8"/>
                </a:solidFill>
                <a:latin typeface="Segoe UI"/>
              </a:rPr>
              <a:t>Two research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2743200"/>
            <a:ext cx="4663440" cy="5486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" y="2971800"/>
            <a:ext cx="73152" cy="73152"/>
          </a:xfrm>
          <a:prstGeom prst="rect">
            <a:avLst/>
          </a:prstGeom>
          <a:solidFill>
            <a:srgbClr val="3F847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880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60" b="0" i="0">
                <a:solidFill>
                  <a:srgbClr val="E4EBE8"/>
                </a:solidFill>
                <a:latin typeface="Segoe UI"/>
              </a:rPr>
              <a:t>Source and coverage panels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3364992"/>
            <a:ext cx="4663440" cy="5486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" y="3593591"/>
            <a:ext cx="73152" cy="73152"/>
          </a:xfrm>
          <a:prstGeom prst="rect">
            <a:avLst/>
          </a:prstGeom>
          <a:solidFill>
            <a:srgbClr val="3F847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3502151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60" b="0" i="0">
                <a:solidFill>
                  <a:srgbClr val="E4EBE8"/>
                </a:solidFill>
                <a:latin typeface="Segoe UI"/>
              </a:rPr>
              <a:t>Linked review-task export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3986783"/>
            <a:ext cx="4663440" cy="5486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1883664"/>
            <a:ext cx="5321808" cy="2267712"/>
          </a:xfrm>
          <a:prstGeom prst="rect">
            <a:avLst/>
          </a:prstGeom>
          <a:solidFill>
            <a:srgbClr val="16323D"/>
          </a:solidFill>
          <a:ln w="9525">
            <a:solidFill>
              <a:srgbClr val="2A424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10312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80" b="0" i="0" spc="150" cap="all">
                <a:solidFill>
                  <a:srgbClr val="7FB3A9"/>
                </a:solidFill>
                <a:latin typeface="Segoe UI Semibold"/>
              </a:rPr>
              <a:t>HISTORICAL HOSTED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377440"/>
            <a:ext cx="4791456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9FD0C6"/>
                </a:solidFill>
                <a:latin typeface="Consolas"/>
              </a:rPr>
              <a:t>carbonsat-mrv.app.workbuddy.link/?sharecode=LCOGLBOECZ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072384"/>
            <a:ext cx="471830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9DB0B6"/>
                </a:solidFill>
                <a:latin typeface="Segoe UI"/>
              </a:rPr>
              <a:t>Whether this address still serves the current English build needs a fresh check. The local workbench remains the English reference.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77316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80" b="0" i="0" spc="150" cap="all">
                <a:solidFill>
                  <a:srgbClr val="7FB3A9"/>
                </a:solidFill>
                <a:latin typeface="Segoe UI Semibold"/>
              </a:rPr>
              <a:t>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5010912"/>
            <a:ext cx="10674065" cy="5486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193792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4EBE8"/>
                </a:solidFill>
                <a:latin typeface="Segoe UI"/>
              </a:rPr>
              <a:t>Modelled NPP only. No carbon-credit calculation, no field-accuracy claim, and no additional on-chain registration.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2A4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9DB0B6"/>
                </a:solidFill>
                <a:latin typeface="Segoe UI"/>
              </a:rPr>
              <a:t>IEEE ClimateChain 2026   /   Climate Data &amp; Environmental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D6E1DF"/>
                </a:solidFill>
                <a:latin typeface="Georgi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 spc="180" cap="all">
                <a:solidFill>
                  <a:srgbClr val="8C9CA1"/>
                </a:solidFill>
                <a:latin typeface="Segoe UI Semibold"/>
              </a:rPr>
              <a:t>APPENDIX: DATA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937" y="40233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30" b="0" i="0" spc="150" cap="all">
                <a:solidFill>
                  <a:srgbClr val="8C9CA1"/>
                </a:solidFill>
                <a:latin typeface="Segoe UI Semibold"/>
              </a:rPr>
              <a:t>CarbonSat-MRV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22376"/>
            <a:ext cx="10674065" cy="640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91440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2000"/>
              </a:lnSpc>
            </a:pPr>
            <a:r>
              <a:rPr sz="2800" b="0" i="0">
                <a:solidFill>
                  <a:srgbClr val="0F242E"/>
                </a:solidFill>
                <a:latin typeface="Segoe UI Semibold"/>
              </a:rPr>
              <a:t>Two cases with distinct scopes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86F"/>
                </a:solidFill>
                <a:latin typeface="Segoe UI"/>
              </a:rPr>
              <a:t>MOD17A3HGF v6.1 annual NPP with separate research extents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920240"/>
          <a:ext cx="7351776" cy="2176272"/>
        </p:xfrm>
        <a:graphic>
          <a:graphicData uri="http://schemas.openxmlformats.org/drawingml/2006/table">
            <a:tbl>
              <a:tblPr firstRow="0" bandRow="0"/>
              <a:tblGrid>
                <a:gridCol w="1572768"/>
                <a:gridCol w="2871216"/>
                <a:gridCol w="290779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800" b="1" i="0" spc="140" cap="all">
                          <a:solidFill>
                            <a:srgbClr val="0F5C55"/>
                          </a:solidFill>
                          <a:latin typeface="Segoe UI"/>
                        </a:rPr>
                        <a:t>Scope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0F242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800" b="1" i="0" spc="140" cap="all">
                          <a:solidFill>
                            <a:srgbClr val="0F5C55"/>
                          </a:solidFill>
                          <a:latin typeface="Segoe UI"/>
                        </a:rPr>
                        <a:t>Case A: Kubuqi footprints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0F242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800" b="1" i="0" spc="140" cap="all">
                          <a:solidFill>
                            <a:srgbClr val="0F5C55"/>
                          </a:solidFill>
                          <a:latin typeface="Segoe UI"/>
                        </a:rPr>
                        <a:t>Case B: Engebei window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0F242E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 i="0">
                          <a:solidFill>
                            <a:srgbClr val="0F242E"/>
                          </a:solidFill>
                          <a:latin typeface="Segoe UI"/>
                        </a:rPr>
                        <a:t>Spatial unit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 i="0">
                          <a:solidFill>
                            <a:srgbClr val="55686F"/>
                          </a:solidFill>
                          <a:latin typeface="Segoe UI"/>
                        </a:rPr>
                        <a:t>34 discrete research cells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 i="0">
                          <a:solidFill>
                            <a:srgbClr val="55686F"/>
                          </a:solidFill>
                          <a:latin typeface="Segoe UI"/>
                        </a:rPr>
                        <a:t>1 paper-reported rectangle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 i="0">
                          <a:solidFill>
                            <a:srgbClr val="0F242E"/>
                          </a:solidFill>
                          <a:latin typeface="Segoe UI"/>
                        </a:rPr>
                        <a:t>Time coverage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 i="0">
                          <a:solidFill>
                            <a:srgbClr val="55686F"/>
                          </a:solidFill>
                          <a:latin typeface="Segoe UI"/>
                        </a:rPr>
                        <a:t>2001–2024: 816 cell-years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 i="0">
                          <a:solidFill>
                            <a:srgbClr val="55686F"/>
                          </a:solidFill>
                          <a:latin typeface="Segoe UI"/>
                        </a:rPr>
                        <a:t>2001–2024: 24 window-years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 i="0">
                          <a:solidFill>
                            <a:srgbClr val="0F242E"/>
                          </a:solidFill>
                          <a:latin typeface="Segoe UI"/>
                        </a:rPr>
                        <a:t>Meaning of extent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 i="0">
                          <a:solidFill>
                            <a:srgbClr val="55686F"/>
                          </a:solidFill>
                          <a:latin typeface="Segoe UI"/>
                        </a:rPr>
                        <a:t>Selected research footprints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 i="0">
                          <a:solidFill>
                            <a:srgbClr val="55686F"/>
                          </a:solidFill>
                          <a:latin typeface="Segoe UI"/>
                        </a:rPr>
                        <a:t>Research window; not a parcel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 i="0">
                          <a:solidFill>
                            <a:srgbClr val="0F242E"/>
                          </a:solidFill>
                          <a:latin typeface="Segoe UI"/>
                        </a:rPr>
                        <a:t>Coverage treatment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 i="0">
                          <a:solidFill>
                            <a:srgbClr val="55686F"/>
                          </a:solidFill>
                          <a:latin typeface="Segoe UI"/>
                        </a:rPr>
                        <a:t>Per-record valid area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 i="0">
                          <a:solidFill>
                            <a:srgbClr val="55686F"/>
                          </a:solidFill>
                          <a:latin typeface="Segoe UI"/>
                        </a:rPr>
                        <a:t>Partial coverage in all 24 years</a:t>
                      </a:r>
                    </a:p>
                  </a:txBody>
                  <a:tcPr marL="128016" marR="128016" marT="54864" marB="54864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DCE2D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 descr="slide-03-screensh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920240"/>
            <a:ext cx="3136392" cy="18047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75320" y="1920240"/>
            <a:ext cx="3136392" cy="1804739"/>
          </a:xfrm>
          <a:prstGeom prst="rect">
            <a:avLst/>
          </a:prstGeom>
          <a:noFill/>
          <a:ln w="9525">
            <a:solidFill>
              <a:srgbClr val="DCE2D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816419"/>
            <a:ext cx="3136392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Case A · 34 discrete research cells, illustrative geometry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4297680"/>
            <a:ext cx="10674065" cy="530352"/>
          </a:xfrm>
          <a:prstGeom prst="rect">
            <a:avLst/>
          </a:prstGeom>
          <a:solidFill>
            <a:srgbClr val="E3EDE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416552"/>
            <a:ext cx="1012542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0F5C55"/>
                </a:solidFill>
                <a:latin typeface="Georgia"/>
              </a:rPr>
              <a:t>Annual production = Σ(valid NPP × pixelArea) / 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91947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80" b="0" i="0">
                <a:solidFill>
                  <a:srgbClr val="55686F"/>
                </a:solidFill>
                <a:latin typeface="Segoe UI"/>
              </a:rPr>
              <a:t>NPP in kg C·m⁻²·yr⁻¹ integrated with pixel area in m² gives tC/yr.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5285232"/>
            <a:ext cx="50292" cy="402336"/>
          </a:xfrm>
          <a:prstGeom prst="rect">
            <a:avLst/>
          </a:prstGeom>
          <a:solidFill>
            <a:srgbClr val="95601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535838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40" b="0" i="0">
                <a:solidFill>
                  <a:srgbClr val="95601F"/>
                </a:solidFill>
                <a:latin typeface="Segoe UI"/>
              </a:rPr>
              <a:t>Neither extent is an official project or management-unit boundary. The two cases are not combined or ranked.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6355080"/>
            <a:ext cx="10674065" cy="5486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64282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8C9CA1"/>
                </a:solidFill>
                <a:latin typeface="Segoe UI"/>
              </a:rPr>
              <a:t>IEEE ClimateChain 2026   /   Climate Data &amp; Environmental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0057" y="64190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86F"/>
                </a:solidFill>
                <a:latin typeface="Georgia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